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Definisi mengacu pada Permenkes dan panduan WHO/IMDRF categorization.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Penting ditekankan: produsen bertanggung jawab selama masa pakai produk berada di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 yang benar: C. Perangkat invasif jangka panjang yang mendukung kehidupan masuk Kelas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27048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Kepatuhan Regulasi untuk Perangkat Medis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290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0E1B2D"/>
                </a:solidFill>
                <a:latin typeface="Calibri"/>
              </a:rPr>
              <a:t>Pengantar Regulasi Perangkat Medis • Modul 1 • Dikti &amp; Klinis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12080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165DFF"/>
          </a:solidFill>
          <a:ln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5248656"/>
            <a:ext cx="10582351" cy="457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WIZAPE • Medical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Agenda Pembelajaran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270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53837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5497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561027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5572353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Tujuan Pembelajaran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64792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E8F0FF"/>
          </a:solidFill>
          <a:ln w="9525"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9384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Menjelaskan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71088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DFF5F4"/>
          </a:solidFill>
          <a:ln w="9525">
            <a:solidFill>
              <a:srgbClr val="0CB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535680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Mengklasifikasikan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77384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141976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Menganalisis &amp; Menerapkan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Apa itu Perangkat Medis?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4298" cy="786384"/>
          </a:xfrm>
          <a:prstGeom prst="roundRect">
            <a:avLst>
              <a:gd name="adj" fmla="val 31395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3051962" cy="220187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Definisi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645920"/>
            <a:ext cx="3454298" cy="786384"/>
          </a:xfrm>
          <a:prstGeom prst="roundRect">
            <a:avLst>
              <a:gd name="adj" fmla="val 31395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9866" y="1810512"/>
            <a:ext cx="3051962" cy="220187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Bukan Obat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5876" y="1645920"/>
            <a:ext cx="3454298" cy="530352"/>
          </a:xfrm>
          <a:prstGeom prst="roundRect">
            <a:avLst>
              <a:gd name="adj" fmla="val 46551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7044" y="1810512"/>
            <a:ext cx="3051962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Contoh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Klasifikasi Kelas Risiko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08176"/>
            <a:ext cx="5227167" cy="475488"/>
          </a:xfrm>
          <a:prstGeom prst="roundRect">
            <a:avLst>
              <a:gd name="adj" fmla="val 50000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72768"/>
            <a:ext cx="4824831" cy="13313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Risiko Rendah → Sedang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08176"/>
            <a:ext cx="5227167" cy="475488"/>
          </a:xfrm>
          <a:prstGeom prst="roundRect">
            <a:avLst>
              <a:gd name="adj" fmla="val 50000"/>
            </a:avLst>
          </a:prstGeom>
          <a:solidFill>
            <a:srgbClr val="FAD7D9"/>
          </a:solidFill>
          <a:ln w="9525">
            <a:solidFill>
              <a:srgbClr val="D9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4175" y="1572768"/>
            <a:ext cx="4824831" cy="13313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Risiko Tinggi → Sangat Tinggi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02536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4824831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Kelas A (Risiko Rendah)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002536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FCE8C4"/>
          </a:solidFill>
          <a:ln w="9525">
            <a:solidFill>
              <a:srgbClr val="D488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5" y="2167128"/>
            <a:ext cx="4824831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Kelas C (Risiko Tinggi)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5952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DFF5F4"/>
          </a:solidFill>
          <a:ln w="9525">
            <a:solidFill>
              <a:srgbClr val="0CB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90544"/>
            <a:ext cx="4824831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Kelas B (Risiko Sedang)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425952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FAD7D9"/>
          </a:solidFill>
          <a:ln w="9525">
            <a:solidFill>
              <a:srgbClr val="D9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4175" y="3590544"/>
            <a:ext cx="4824831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Kelas D (Risiko Sangat Tinggi)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9367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DFF5F4"/>
          </a:solidFill>
          <a:ln w="9525">
            <a:solidFill>
              <a:srgbClr val="0CB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013959"/>
            <a:ext cx="4769967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F2A44"/>
                </a:solidFill>
                <a:latin typeface="Calibri"/>
              </a:rPr>
              <a:t>Kelas menentukan: dokumentasi yang harus disiapkan, uji klinis yang diperlukan, dan proses audit registrasi.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849367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165DFF"/>
          </a:solidFill>
          <a:ln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6159" y="4885944"/>
            <a:ext cx="5080863" cy="457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Regulasi: Permenkes Tentang Klasifikasi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Alur Registrasi &amp; Izin Edar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83664"/>
            <a:ext cx="2545003" cy="530352"/>
          </a:xfrm>
          <a:prstGeom prst="roundRect">
            <a:avLst>
              <a:gd name="adj" fmla="val 46551"/>
            </a:avLst>
          </a:prstGeom>
          <a:solidFill>
            <a:srgbClr val="E8F0FF"/>
          </a:solidFill>
          <a:ln w="9525"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2142667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1. Pra-Registrasi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1883664"/>
            <a:ext cx="2545003" cy="530352"/>
          </a:xfrm>
          <a:prstGeom prst="roundRect">
            <a:avLst>
              <a:gd name="adj" fmla="val 46551"/>
            </a:avLst>
          </a:prstGeom>
          <a:solidFill>
            <a:srgbClr val="DFF5F4"/>
          </a:solidFill>
          <a:ln w="9525">
            <a:solidFill>
              <a:srgbClr val="0CB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0571" y="2048256"/>
            <a:ext cx="2142667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2. Pengajuan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883664"/>
            <a:ext cx="2545003" cy="530352"/>
          </a:xfrm>
          <a:prstGeom prst="roundRect">
            <a:avLst>
              <a:gd name="adj" fmla="val 46551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2048256"/>
            <a:ext cx="2142667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3. Evaluasi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171" y="1883664"/>
            <a:ext cx="2545003" cy="530352"/>
          </a:xfrm>
          <a:prstGeom prst="roundRect">
            <a:avLst>
              <a:gd name="adj" fmla="val 46551"/>
            </a:avLst>
          </a:prstGeom>
          <a:solidFill>
            <a:srgbClr val="FCE8C4"/>
          </a:solidFill>
          <a:ln w="9525">
            <a:solidFill>
              <a:srgbClr val="D488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339" y="2048256"/>
            <a:ext cx="2142667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4. Izin Edar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ISO 13485:2016 • Sistem Manajemen Mutu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08176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355080" y="1408176"/>
            <a:ext cx="5105095" cy="27432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09344"/>
            <a:ext cx="4775911" cy="13716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0E1B2D"/>
                </a:solidFill>
                <a:latin typeface="Calibri"/>
              </a:rPr>
              <a:t>ISO 13485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586484"/>
            <a:ext cx="4775911" cy="8229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0E1B2D"/>
                </a:solidFill>
                <a:latin typeface="Calibri"/>
              </a:rPr>
              <a:t>Prasyarat Sertifikasi Kelas Tinggi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Kewajiban Pasca Pemasaran (Post-Market)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08176"/>
            <a:ext cx="5227167" cy="530352"/>
          </a:xfrm>
          <a:prstGeom prst="roundRect">
            <a:avLst>
              <a:gd name="adj" fmla="val 46551"/>
            </a:avLst>
          </a:prstGeom>
          <a:solidFill>
            <a:srgbClr val="E8F0FF"/>
          </a:solidFill>
          <a:ln w="9525"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72768"/>
            <a:ext cx="4824831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PMS &amp; Vigilansi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08176"/>
            <a:ext cx="5227167" cy="786384"/>
          </a:xfrm>
          <a:prstGeom prst="roundRect">
            <a:avLst>
              <a:gd name="adj" fmla="val 31395"/>
            </a:avLst>
          </a:prstGeom>
          <a:solidFill>
            <a:srgbClr val="FAD7D9"/>
          </a:solidFill>
          <a:ln w="9525">
            <a:solidFill>
              <a:srgbClr val="D93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4175" y="1572768"/>
            <a:ext cx="4824831" cy="220187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Field Safety Corrective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Studi Kasus Terpandu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08176"/>
            <a:ext cx="10728655" cy="786384"/>
          </a:xfrm>
          <a:prstGeom prst="roundRect">
            <a:avLst>
              <a:gd name="adj" fmla="val 31395"/>
            </a:avLst>
          </a:prstGeom>
          <a:solidFill>
            <a:srgbClr val="DFF5F4"/>
          </a:solidFill>
          <a:ln w="9525">
            <a:solidFill>
              <a:srgbClr val="0CB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72768"/>
            <a:ext cx="10326319" cy="220187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Skenario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227167" cy="786384"/>
          </a:xfrm>
          <a:prstGeom prst="roundRect">
            <a:avLst>
              <a:gd name="adj" fmla="val 31395"/>
            </a:avLst>
          </a:prstGeom>
          <a:solidFill>
            <a:srgbClr val="FCE8C4"/>
          </a:solidFill>
          <a:ln w="9525">
            <a:solidFill>
              <a:srgbClr val="D488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4824831" cy="220187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Analisis Klasifikasi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834640"/>
            <a:ext cx="5227167" cy="786384"/>
          </a:xfrm>
          <a:prstGeom prst="roundRect">
            <a:avLst>
              <a:gd name="adj" fmla="val 31395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2999232"/>
            <a:ext cx="4824831" cy="220187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Jawaban &amp; Diskusi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Ringkasan Modul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E8F0FF"/>
          </a:solidFill>
          <a:ln w="9525">
            <a:solidFill>
              <a:srgbClr val="16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Klasifikasi = Risiko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88207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DFF5F4"/>
          </a:solidFill>
          <a:ln w="9525">
            <a:solidFill>
              <a:srgbClr val="0CB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352800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Registrasi bukan "sekadar admin"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30496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895087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Kewajiban berlanjut setelah beredar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36435C"/>
                </a:solidFill>
                <a:latin typeface="Calibri"/>
              </a:rPr>
              <a:t>Kepatuhan Regulasi untuk Perangkat Medis • Modul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601968"/>
            <a:ext cx="1097280" cy="2011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4E5A75"/>
                </a:solidFill>
                <a:latin typeface="Calibri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1B2D"/>
                </a:solidFill>
                <a:latin typeface="Calibri"/>
              </a:rPr>
              <a:t>Refleksi &amp; Kuis Formatif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9304"/>
            <a:ext cx="10728655" cy="530352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0E1B2D"/>
                </a:solidFill>
                <a:latin typeface="Calibri"/>
              </a:rPr>
              <a:t>Perangkat yang termasuk invasif, kontak dengan jaringan tubuh lebih dari 30 hari, dan berpotensi menunjang kehidupan, termasuk kelas risiko mana?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96896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61488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56432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21024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15968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D5F1E3"/>
          </a:solidFill>
          <a:ln w="9525">
            <a:solidFill>
              <a:srgbClr val="2BA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80560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75504"/>
            <a:ext cx="10728655" cy="530352"/>
          </a:xfrm>
          <a:prstGeom prst="roundRect">
            <a:avLst>
              <a:gd name="adj" fmla="val 46551"/>
            </a:avLst>
          </a:prstGeom>
          <a:solidFill>
            <a:srgbClr val="FFFFFF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340096"/>
            <a:ext cx="10326319" cy="14849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B2D"/>
                </a:solidFill>
                <a:latin typeface="Calibri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